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62" r:id="rId5"/>
    <p:sldId id="263" r:id="rId6"/>
    <p:sldId id="268" r:id="rId7"/>
    <p:sldId id="269" r:id="rId8"/>
    <p:sldId id="271" r:id="rId9"/>
    <p:sldId id="270" r:id="rId10"/>
    <p:sldId id="272" r:id="rId11"/>
    <p:sldId id="273" r:id="rId12"/>
    <p:sldId id="274" r:id="rId13"/>
    <p:sldId id="264" r:id="rId14"/>
    <p:sldId id="265" r:id="rId15"/>
    <p:sldId id="267" r:id="rId16"/>
  </p:sldIdLst>
  <p:sldSz cx="12192000" cy="6858000"/>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HQ2jbF+TbJoLz8AoWS9kB4qPV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42e7a972ef_1_2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42e7a972ef_1_25: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342e7a972ef_1_25: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42e7a972ef_1_3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42e7a972ef_1_32: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42e7a972ef_1_32: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42e7a972ef_1_4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42e7a972ef_1_41: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42e7a972ef_1_41: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7: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12"/>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2"/>
          <p:cNvSpPr txBox="1">
            <a:spLocks noGrp="1"/>
          </p:cNvSpPr>
          <p:nvPr>
            <p:ph type="subTitle" idx="1"/>
          </p:nvPr>
        </p:nvSpPr>
        <p:spPr>
          <a:xfrm>
            <a:off x="609600" y="1604520"/>
            <a:ext cx="1097232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3"/>
          <p:cNvSpPr txBox="1">
            <a:spLocks noGrp="1"/>
          </p:cNvSpPr>
          <p:nvPr>
            <p:ph type="body" idx="1"/>
          </p:nvPr>
        </p:nvSpPr>
        <p:spPr>
          <a:xfrm>
            <a:off x="609600" y="1604520"/>
            <a:ext cx="1097232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60960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23232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16"/>
          <p:cNvSpPr txBox="1">
            <a:spLocks noGrp="1"/>
          </p:cNvSpPr>
          <p:nvPr>
            <p:ph type="subTitle" idx="1"/>
          </p:nvPr>
        </p:nvSpPr>
        <p:spPr>
          <a:xfrm>
            <a:off x="0" y="0"/>
            <a:ext cx="731472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7"/>
          <p:cNvSpPr txBox="1">
            <a:spLocks noGrp="1"/>
          </p:cNvSpPr>
          <p:nvPr>
            <p:ph type="body" idx="1"/>
          </p:nvPr>
        </p:nvSpPr>
        <p:spPr>
          <a:xfrm>
            <a:off x="60960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body" idx="2"/>
          </p:nvPr>
        </p:nvSpPr>
        <p:spPr>
          <a:xfrm>
            <a:off x="623232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49" name="Google Shape;49;p17"/>
          <p:cNvSpPr txBox="1">
            <a:spLocks noGrp="1"/>
          </p:cNvSpPr>
          <p:nvPr>
            <p:ph type="body" idx="3"/>
          </p:nvPr>
        </p:nvSpPr>
        <p:spPr>
          <a:xfrm>
            <a:off x="60960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18"/>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8"/>
          <p:cNvSpPr txBox="1">
            <a:spLocks noGrp="1"/>
          </p:cNvSpPr>
          <p:nvPr>
            <p:ph type="body" idx="1"/>
          </p:nvPr>
        </p:nvSpPr>
        <p:spPr>
          <a:xfrm>
            <a:off x="60960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3" name="Google Shape;53;p18"/>
          <p:cNvSpPr txBox="1">
            <a:spLocks noGrp="1"/>
          </p:cNvSpPr>
          <p:nvPr>
            <p:ph type="body" idx="2"/>
          </p:nvPr>
        </p:nvSpPr>
        <p:spPr>
          <a:xfrm>
            <a:off x="623232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4" name="Google Shape;54;p18"/>
          <p:cNvSpPr txBox="1">
            <a:spLocks noGrp="1"/>
          </p:cNvSpPr>
          <p:nvPr>
            <p:ph type="body" idx="3"/>
          </p:nvPr>
        </p:nvSpPr>
        <p:spPr>
          <a:xfrm>
            <a:off x="623232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9"/>
          <p:cNvSpPr txBox="1">
            <a:spLocks noGrp="1"/>
          </p:cNvSpPr>
          <p:nvPr>
            <p:ph type="body" idx="1"/>
          </p:nvPr>
        </p:nvSpPr>
        <p:spPr>
          <a:xfrm>
            <a:off x="60960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body" idx="2"/>
          </p:nvPr>
        </p:nvSpPr>
        <p:spPr>
          <a:xfrm>
            <a:off x="623232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9" name="Google Shape;59;p19"/>
          <p:cNvSpPr txBox="1">
            <a:spLocks noGrp="1"/>
          </p:cNvSpPr>
          <p:nvPr>
            <p:ph type="body" idx="3"/>
          </p:nvPr>
        </p:nvSpPr>
        <p:spPr>
          <a:xfrm>
            <a:off x="609600" y="3682080"/>
            <a:ext cx="1097232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20"/>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0"/>
          <p:cNvSpPr txBox="1">
            <a:spLocks noGrp="1"/>
          </p:cNvSpPr>
          <p:nvPr>
            <p:ph type="body" idx="1"/>
          </p:nvPr>
        </p:nvSpPr>
        <p:spPr>
          <a:xfrm>
            <a:off x="609600" y="1604520"/>
            <a:ext cx="1097232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3" name="Google Shape;63;p20"/>
          <p:cNvSpPr txBox="1">
            <a:spLocks noGrp="1"/>
          </p:cNvSpPr>
          <p:nvPr>
            <p:ph type="body" idx="2"/>
          </p:nvPr>
        </p:nvSpPr>
        <p:spPr>
          <a:xfrm>
            <a:off x="609600" y="3682080"/>
            <a:ext cx="1097232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21"/>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1"/>
          <p:cNvSpPr txBox="1">
            <a:spLocks noGrp="1"/>
          </p:cNvSpPr>
          <p:nvPr>
            <p:ph type="body" idx="1"/>
          </p:nvPr>
        </p:nvSpPr>
        <p:spPr>
          <a:xfrm>
            <a:off x="60960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7" name="Google Shape;67;p21"/>
          <p:cNvSpPr txBox="1">
            <a:spLocks noGrp="1"/>
          </p:cNvSpPr>
          <p:nvPr>
            <p:ph type="body" idx="2"/>
          </p:nvPr>
        </p:nvSpPr>
        <p:spPr>
          <a:xfrm>
            <a:off x="623232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8" name="Google Shape;68;p21"/>
          <p:cNvSpPr txBox="1">
            <a:spLocks noGrp="1"/>
          </p:cNvSpPr>
          <p:nvPr>
            <p:ph type="body" idx="3"/>
          </p:nvPr>
        </p:nvSpPr>
        <p:spPr>
          <a:xfrm>
            <a:off x="60960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9" name="Google Shape;69;p21"/>
          <p:cNvSpPr txBox="1">
            <a:spLocks noGrp="1"/>
          </p:cNvSpPr>
          <p:nvPr>
            <p:ph type="body" idx="4"/>
          </p:nvPr>
        </p:nvSpPr>
        <p:spPr>
          <a:xfrm>
            <a:off x="623232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22"/>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2"/>
          <p:cNvSpPr txBox="1">
            <a:spLocks noGrp="1"/>
          </p:cNvSpPr>
          <p:nvPr>
            <p:ph type="body" idx="1"/>
          </p:nvPr>
        </p:nvSpPr>
        <p:spPr>
          <a:xfrm>
            <a:off x="609600" y="160452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3" name="Google Shape;73;p22"/>
          <p:cNvSpPr txBox="1">
            <a:spLocks noGrp="1"/>
          </p:cNvSpPr>
          <p:nvPr>
            <p:ph type="body" idx="2"/>
          </p:nvPr>
        </p:nvSpPr>
        <p:spPr>
          <a:xfrm>
            <a:off x="4319520" y="160452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4" name="Google Shape;74;p22"/>
          <p:cNvSpPr txBox="1">
            <a:spLocks noGrp="1"/>
          </p:cNvSpPr>
          <p:nvPr>
            <p:ph type="body" idx="3"/>
          </p:nvPr>
        </p:nvSpPr>
        <p:spPr>
          <a:xfrm>
            <a:off x="8029440" y="160452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body" idx="4"/>
          </p:nvPr>
        </p:nvSpPr>
        <p:spPr>
          <a:xfrm>
            <a:off x="609600" y="368208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6" name="Google Shape;76;p22"/>
          <p:cNvSpPr txBox="1">
            <a:spLocks noGrp="1"/>
          </p:cNvSpPr>
          <p:nvPr>
            <p:ph type="body" idx="5"/>
          </p:nvPr>
        </p:nvSpPr>
        <p:spPr>
          <a:xfrm>
            <a:off x="4319520" y="368208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7" name="Google Shape;77;p22"/>
          <p:cNvSpPr txBox="1">
            <a:spLocks noGrp="1"/>
          </p:cNvSpPr>
          <p:nvPr>
            <p:ph type="body" idx="6"/>
          </p:nvPr>
        </p:nvSpPr>
        <p:spPr>
          <a:xfrm>
            <a:off x="8029440" y="368208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0"/>
          <p:cNvSpPr/>
          <p:nvPr/>
        </p:nvSpPr>
        <p:spPr>
          <a:xfrm>
            <a:off x="0" y="0"/>
            <a:ext cx="1219152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1;p10"/>
          <p:cNvSpPr/>
          <p:nvPr/>
        </p:nvSpPr>
        <p:spPr>
          <a:xfrm rot="10800000" flipH="1">
            <a:off x="0" y="6704640"/>
            <a:ext cx="1219152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2" name="Google Shape;12;p10" descr="LOGO.gif"/>
          <p:cNvPicPr preferRelativeResize="0"/>
          <p:nvPr/>
        </p:nvPicPr>
        <p:blipFill rotWithShape="1">
          <a:blip r:embed="rId14">
            <a:alphaModFix/>
          </a:blip>
          <a:srcRect b="10718"/>
          <a:stretch/>
        </p:blipFill>
        <p:spPr>
          <a:xfrm>
            <a:off x="8737440" y="228600"/>
            <a:ext cx="2742720" cy="634680"/>
          </a:xfrm>
          <a:prstGeom prst="rect">
            <a:avLst/>
          </a:prstGeom>
          <a:noFill/>
          <a:ln>
            <a:noFill/>
          </a:ln>
        </p:spPr>
      </p:pic>
      <p:pic>
        <p:nvPicPr>
          <p:cNvPr id="13" name="Google Shape;13;p10" descr="LOGO.gif"/>
          <p:cNvPicPr preferRelativeResize="0"/>
          <p:nvPr/>
        </p:nvPicPr>
        <p:blipFill rotWithShape="1">
          <a:blip r:embed="rId14">
            <a:alphaModFix/>
          </a:blip>
          <a:srcRect b="10718"/>
          <a:stretch/>
        </p:blipFill>
        <p:spPr>
          <a:xfrm>
            <a:off x="8737440" y="228600"/>
            <a:ext cx="2742720" cy="634680"/>
          </a:xfrm>
          <a:prstGeom prst="rect">
            <a:avLst/>
          </a:prstGeom>
          <a:noFill/>
          <a:ln>
            <a:noFill/>
          </a:ln>
        </p:spPr>
      </p:pic>
      <p:grpSp>
        <p:nvGrpSpPr>
          <p:cNvPr id="14" name="Google Shape;14;p10"/>
          <p:cNvGrpSpPr/>
          <p:nvPr/>
        </p:nvGrpSpPr>
        <p:grpSpPr>
          <a:xfrm>
            <a:off x="8195520" y="0"/>
            <a:ext cx="3996000" cy="875880"/>
            <a:chOff x="6146640" y="0"/>
            <a:chExt cx="2997000" cy="875880"/>
          </a:xfrm>
        </p:grpSpPr>
        <p:sp>
          <p:nvSpPr>
            <p:cNvPr id="15" name="Google Shape;15;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6" name="Google Shape;16;p10"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18" name="Google Shape;18;p10" descr="logo.jpg"/>
          <p:cNvPicPr preferRelativeResize="0"/>
          <p:nvPr/>
        </p:nvPicPr>
        <p:blipFill rotWithShape="1">
          <a:blip r:embed="rId15">
            <a:alphaModFix/>
          </a:blip>
          <a:srcRect/>
          <a:stretch/>
        </p:blipFill>
        <p:spPr>
          <a:xfrm>
            <a:off x="8737440" y="228600"/>
            <a:ext cx="2560800" cy="609120"/>
          </a:xfrm>
          <a:prstGeom prst="rect">
            <a:avLst/>
          </a:prstGeom>
          <a:noFill/>
          <a:ln>
            <a:noFill/>
          </a:ln>
        </p:spPr>
      </p:pic>
      <p:pic>
        <p:nvPicPr>
          <p:cNvPr id="19" name="Google Shape;19;p10" descr="LOGO.gif"/>
          <p:cNvPicPr preferRelativeResize="0"/>
          <p:nvPr/>
        </p:nvPicPr>
        <p:blipFill rotWithShape="1">
          <a:blip r:embed="rId14">
            <a:alphaModFix/>
          </a:blip>
          <a:srcRect b="10718"/>
          <a:stretch/>
        </p:blipFill>
        <p:spPr>
          <a:xfrm>
            <a:off x="8737440" y="228600"/>
            <a:ext cx="2742720" cy="634680"/>
          </a:xfrm>
          <a:prstGeom prst="rect">
            <a:avLst/>
          </a:prstGeom>
          <a:noFill/>
          <a:ln>
            <a:noFill/>
          </a:ln>
        </p:spPr>
      </p:pic>
      <p:grpSp>
        <p:nvGrpSpPr>
          <p:cNvPr id="20" name="Google Shape;20;p10"/>
          <p:cNvGrpSpPr/>
          <p:nvPr/>
        </p:nvGrpSpPr>
        <p:grpSpPr>
          <a:xfrm>
            <a:off x="8195520" y="0"/>
            <a:ext cx="3996000" cy="875880"/>
            <a:chOff x="6146640" y="0"/>
            <a:chExt cx="2997000" cy="875880"/>
          </a:xfrm>
        </p:grpSpPr>
        <p:sp>
          <p:nvSpPr>
            <p:cNvPr id="21" name="Google Shape;21;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22" name="Google Shape;22;p10"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24" name="Google Shape;24;p10" descr="logo.jpg"/>
          <p:cNvPicPr preferRelativeResize="0"/>
          <p:nvPr/>
        </p:nvPicPr>
        <p:blipFill rotWithShape="1">
          <a:blip r:embed="rId15">
            <a:alphaModFix/>
          </a:blip>
          <a:srcRect/>
          <a:stretch/>
        </p:blipFill>
        <p:spPr>
          <a:xfrm>
            <a:off x="8737440" y="228600"/>
            <a:ext cx="2560800" cy="609120"/>
          </a:xfrm>
          <a:prstGeom prst="rect">
            <a:avLst/>
          </a:prstGeom>
          <a:noFill/>
          <a:ln>
            <a:noFill/>
          </a:ln>
        </p:spPr>
      </p:pic>
      <p:sp>
        <p:nvSpPr>
          <p:cNvPr id="25" name="Google Shape;25;p10"/>
          <p:cNvSpPr txBox="1">
            <a:spLocks noGrp="1"/>
          </p:cNvSpPr>
          <p:nvPr>
            <p:ph type="title"/>
          </p:nvPr>
        </p:nvSpPr>
        <p:spPr>
          <a:xfrm>
            <a:off x="0" y="0"/>
            <a:ext cx="863568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0"/>
          <p:cNvSpPr txBox="1">
            <a:spLocks noGrp="1"/>
          </p:cNvSpPr>
          <p:nvPr>
            <p:ph type="body" idx="1"/>
          </p:nvPr>
        </p:nvSpPr>
        <p:spPr>
          <a:xfrm>
            <a:off x="609600" y="1371600"/>
            <a:ext cx="1097232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0"/>
          <p:cNvSpPr txBox="1">
            <a:spLocks noGrp="1"/>
          </p:cNvSpPr>
          <p:nvPr>
            <p:ph type="dt" idx="10"/>
          </p:nvPr>
        </p:nvSpPr>
        <p:spPr>
          <a:xfrm>
            <a:off x="609600" y="6356520"/>
            <a:ext cx="284448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10"/>
          <p:cNvSpPr txBox="1">
            <a:spLocks noGrp="1"/>
          </p:cNvSpPr>
          <p:nvPr>
            <p:ph type="ftr" idx="11"/>
          </p:nvPr>
        </p:nvSpPr>
        <p:spPr>
          <a:xfrm>
            <a:off x="4165440" y="6356520"/>
            <a:ext cx="38601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10"/>
          <p:cNvSpPr txBox="1">
            <a:spLocks noGrp="1"/>
          </p:cNvSpPr>
          <p:nvPr>
            <p:ph type="sldNum" idx="12"/>
          </p:nvPr>
        </p:nvSpPr>
        <p:spPr>
          <a:xfrm>
            <a:off x="8737440" y="6356520"/>
            <a:ext cx="284448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1606551" y="580278"/>
            <a:ext cx="9144000" cy="5872500"/>
          </a:xfrm>
          <a:prstGeom prst="rect">
            <a:avLst/>
          </a:prstGeom>
          <a:noFill/>
          <a:ln>
            <a:noFill/>
          </a:ln>
        </p:spPr>
        <p:txBody>
          <a:bodyPr spcFirstLastPara="1" wrap="square" lIns="91425" tIns="45700" rIns="91425" bIns="45700" anchor="t" anchorCtr="0">
            <a:noAutofit/>
          </a:bodyPr>
          <a:lstStyle/>
          <a:p>
            <a:pPr algn="ctr"/>
            <a:endParaRPr lang="en-IN" sz="1800" b="1" dirty="0">
              <a:solidFill>
                <a:schemeClr val="dk1"/>
              </a:solidFill>
              <a:latin typeface="Times New Roman"/>
              <a:ea typeface="Times New Roman"/>
              <a:cs typeface="Times New Roman"/>
              <a:sym typeface="Times New Roman"/>
            </a:endParaRPr>
          </a:p>
          <a:p>
            <a:pPr algn="ctr">
              <a:spcBef>
                <a:spcPts val="400"/>
              </a:spcBef>
            </a:pPr>
            <a:r>
              <a:rPr lang="en-IN" sz="2000"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spcBef>
                <a:spcPts val="400"/>
              </a:spcBef>
            </a:pPr>
            <a:r>
              <a:rPr lang="en-US" sz="2800" dirty="0">
                <a:solidFill>
                  <a:schemeClr val="dk1"/>
                </a:solidFill>
                <a:latin typeface="Times New Roman"/>
                <a:ea typeface="Times New Roman"/>
                <a:cs typeface="Times New Roman"/>
                <a:sym typeface="Times New Roman"/>
              </a:rPr>
              <a:t>On</a:t>
            </a:r>
            <a:endParaRPr lang="en-US" dirty="0">
              <a:latin typeface="Times New Roman"/>
              <a:ea typeface="Times New Roman"/>
              <a:cs typeface="Times New Roman"/>
              <a:sym typeface="Times New Roman"/>
            </a:endParaRPr>
          </a:p>
          <a:p>
            <a:pPr algn="ctr">
              <a:spcBef>
                <a:spcPts val="400"/>
              </a:spcBef>
            </a:pPr>
            <a:r>
              <a:rPr lang="en-US" sz="2800" b="1" dirty="0">
                <a:latin typeface="Times New Roman"/>
                <a:ea typeface="Times New Roman"/>
                <a:cs typeface="Times New Roman"/>
                <a:sym typeface="Times New Roman"/>
              </a:rPr>
              <a:t>NexsusHR</a:t>
            </a:r>
          </a:p>
          <a:p>
            <a:pPr algn="ctr">
              <a:spcBef>
                <a:spcPts val="400"/>
              </a:spcBef>
            </a:pPr>
            <a:r>
              <a:rPr lang="en-US" sz="2800" dirty="0">
                <a:latin typeface="Times New Roman"/>
                <a:ea typeface="Times New Roman"/>
                <a:cs typeface="Times New Roman"/>
                <a:sym typeface="Times New Roman"/>
              </a:rPr>
              <a:t>Divanshu Garg – 2210990289</a:t>
            </a:r>
          </a:p>
          <a:p>
            <a:pPr algn="ctr">
              <a:spcBef>
                <a:spcPts val="400"/>
              </a:spcBef>
            </a:pPr>
            <a:r>
              <a:rPr lang="en-US" sz="2800" dirty="0">
                <a:latin typeface="Times New Roman"/>
                <a:ea typeface="Times New Roman"/>
                <a:cs typeface="Times New Roman"/>
                <a:sym typeface="Times New Roman"/>
              </a:rPr>
              <a:t>Prajwal - 2210992057</a:t>
            </a:r>
          </a:p>
          <a:p>
            <a:pPr algn="ctr">
              <a:spcBef>
                <a:spcPts val="400"/>
              </a:spcBef>
            </a:pPr>
            <a:endParaRPr lang="en-US" sz="2800" dirty="0">
              <a:latin typeface="Times New Roman"/>
              <a:ea typeface="Times New Roman"/>
              <a:cs typeface="Times New Roman"/>
              <a:sym typeface="Times New Roman"/>
            </a:endParaRPr>
          </a:p>
          <a:p>
            <a:pPr algn="ctr">
              <a:spcBef>
                <a:spcPts val="400"/>
              </a:spcBef>
            </a:pPr>
            <a:r>
              <a:rPr lang="en-US" sz="2000" dirty="0">
                <a:latin typeface="Times New Roman"/>
                <a:ea typeface="Times New Roman"/>
                <a:cs typeface="Times New Roman"/>
                <a:sym typeface="Times New Roman"/>
              </a:rPr>
              <a:t>Supervised By</a:t>
            </a:r>
            <a:endParaRPr lang="en-US" sz="1100" dirty="0">
              <a:latin typeface="Times New Roman"/>
              <a:ea typeface="Times New Roman"/>
              <a:cs typeface="Times New Roman"/>
              <a:sym typeface="Times New Roman"/>
            </a:endParaRPr>
          </a:p>
          <a:p>
            <a:pPr algn="ctr">
              <a:spcBef>
                <a:spcPts val="400"/>
              </a:spcBef>
            </a:pPr>
            <a:r>
              <a:rPr lang="en-US" sz="2000" dirty="0">
                <a:solidFill>
                  <a:schemeClr val="dk1"/>
                </a:solidFill>
                <a:latin typeface="Times New Roman"/>
                <a:ea typeface="Times New Roman"/>
                <a:cs typeface="Times New Roman"/>
                <a:sym typeface="Times New Roman"/>
              </a:rPr>
              <a:t>	Dr. Gurpreet Singh	</a:t>
            </a:r>
          </a:p>
          <a:p>
            <a:pPr algn="ctr">
              <a:spcBef>
                <a:spcPts val="400"/>
              </a:spcBef>
            </a:pPr>
            <a:r>
              <a:rPr lang="en-US" sz="2400" dirty="0">
                <a:solidFill>
                  <a:schemeClr val="dk1"/>
                </a:solidFill>
                <a:latin typeface="Times New Roman"/>
                <a:ea typeface="Times New Roman"/>
                <a:cs typeface="Times New Roman"/>
                <a:sym typeface="Times New Roman"/>
              </a:rPr>
              <a:t>Department of Computer Science and Engineering, </a:t>
            </a:r>
            <a:endParaRPr lang="en-US" sz="1100" dirty="0">
              <a:latin typeface="Times New Roman"/>
              <a:ea typeface="Times New Roman"/>
              <a:cs typeface="Times New Roman"/>
              <a:sym typeface="Times New Roman"/>
            </a:endParaRPr>
          </a:p>
          <a:p>
            <a:pPr algn="ctr">
              <a:spcBef>
                <a:spcPts val="400"/>
              </a:spcBef>
            </a:pPr>
            <a:r>
              <a:rPr lang="en-US" sz="2400" dirty="0">
                <a:solidFill>
                  <a:schemeClr val="dk1"/>
                </a:solidFill>
                <a:latin typeface="Times New Roman"/>
                <a:ea typeface="Times New Roman"/>
                <a:cs typeface="Times New Roman"/>
                <a:sym typeface="Times New Roman"/>
              </a:rPr>
              <a:t>Chitkara University, Punjab</a:t>
            </a:r>
            <a:endParaRPr lang="en-US" sz="11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1524001" y="0"/>
            <a:ext cx="5063067" cy="837720"/>
          </a:xfrm>
          <a:prstGeom prst="rect">
            <a:avLst/>
          </a:prstGeom>
          <a:noFill/>
          <a:ln>
            <a:noFill/>
          </a:ln>
        </p:spPr>
        <p:txBody>
          <a:bodyPr spcFirstLastPara="1" wrap="square" lIns="91425" tIns="45700" rIns="91425" bIns="45700" anchor="ctr" anchorCtr="0">
            <a:noAutofit/>
          </a:bodyPr>
          <a:lstStyle/>
          <a:p>
            <a:pPr algn="l">
              <a:defRPr sz="2800" b="1">
                <a:latin typeface="Arial"/>
              </a:defRPr>
            </a:pPr>
            <a:r>
              <a:rPr lang="en-IN" sz="3200" dirty="0"/>
              <a:t> Introduction</a:t>
            </a:r>
            <a:endParaRPr sz="3200" dirty="0"/>
          </a:p>
        </p:txBody>
      </p:sp>
      <p:sp>
        <p:nvSpPr>
          <p:cNvPr id="90" name="Google Shape;90;p2"/>
          <p:cNvSpPr txBox="1"/>
          <p:nvPr/>
        </p:nvSpPr>
        <p:spPr>
          <a:xfrm>
            <a:off x="8077080" y="2546349"/>
            <a:ext cx="2133360" cy="4174851"/>
          </a:xfrm>
          <a:prstGeom prst="rect">
            <a:avLst/>
          </a:prstGeom>
          <a:noFill/>
          <a:ln>
            <a:noFill/>
          </a:ln>
        </p:spPr>
        <p:txBody>
          <a:bodyPr spcFirstLastPara="1" wrap="square" lIns="91425" tIns="45700" rIns="91425" bIns="45700" anchor="ctr" anchorCtr="0">
            <a:noAutofit/>
          </a:bodyPr>
          <a:lstStyle/>
          <a:p>
            <a:pPr algn="r"/>
            <a:endParaRPr sz="1200" dirty="0">
              <a:solidFill>
                <a:schemeClr val="dk1"/>
              </a:solidFill>
              <a:latin typeface="Times New Roman"/>
              <a:ea typeface="Times New Roman"/>
              <a:cs typeface="Times New Roman"/>
              <a:sym typeface="Times New Roman"/>
            </a:endParaRPr>
          </a:p>
        </p:txBody>
      </p:sp>
      <p:sp>
        <p:nvSpPr>
          <p:cNvPr id="91" name="Google Shape;91;p2"/>
          <p:cNvSpPr txBox="1"/>
          <p:nvPr/>
        </p:nvSpPr>
        <p:spPr>
          <a:xfrm>
            <a:off x="4926227" y="1326292"/>
            <a:ext cx="6343136" cy="4588476"/>
          </a:xfrm>
          <a:prstGeom prst="rect">
            <a:avLst/>
          </a:prstGeom>
          <a:noFill/>
          <a:ln>
            <a:noFill/>
          </a:ln>
        </p:spPr>
        <p:txBody>
          <a:bodyPr spcFirstLastPara="1" wrap="square" lIns="91425" tIns="45700" rIns="91425" bIns="45700" anchor="t" anchorCtr="0">
            <a:noAutofit/>
          </a:bodyPr>
          <a:lstStyle/>
          <a:p>
            <a:pPr algn="just"/>
            <a:r>
              <a:rPr lang="en-US" sz="1600" dirty="0"/>
              <a:t>The Employee Management System is a complete solution designed to help organizations manage their employees and internal structure more efficiently. It provides a centralized platform where admins can onboard new employees, create and manage departments, define roles, and monitor attendance and timesheets. The system includes separate login portals for admins and employees, ensuring that each user accesses the features relevant to their role.</a:t>
            </a:r>
          </a:p>
          <a:p>
            <a:pPr algn="just"/>
            <a:r>
              <a:rPr lang="en-US" sz="1600" dirty="0"/>
              <a:t>Built using Node.js, Express.js, Prisma, and PostgreSQL, the backend handles authentication, authorization, and database management securely. The frontend offers a simple and clear interface where admins can manage operations easily, and employees can log in to view their details and update their timesheets. This system helps reduce manual work, improve coordination, and bring transparency to the overall employee management process.</a:t>
            </a:r>
          </a:p>
        </p:txBody>
      </p:sp>
      <p:pic>
        <p:nvPicPr>
          <p:cNvPr id="5" name="Picture 4">
            <a:extLst>
              <a:ext uri="{FF2B5EF4-FFF2-40B4-BE49-F238E27FC236}">
                <a16:creationId xmlns:a16="http://schemas.microsoft.com/office/drawing/2014/main" id="{B494EB64-9B10-E8DE-A6C8-21DAD3196F30}"/>
              </a:ext>
            </a:extLst>
          </p:cNvPr>
          <p:cNvPicPr>
            <a:picLocks noChangeAspect="1"/>
          </p:cNvPicPr>
          <p:nvPr/>
        </p:nvPicPr>
        <p:blipFill>
          <a:blip r:embed="rId3"/>
          <a:stretch>
            <a:fillRect/>
          </a:stretch>
        </p:blipFill>
        <p:spPr>
          <a:xfrm>
            <a:off x="313043" y="837720"/>
            <a:ext cx="4258735" cy="5883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1524002" y="0"/>
            <a:ext cx="6511637" cy="914040"/>
          </a:xfrm>
          <a:prstGeom prst="rect">
            <a:avLst/>
          </a:prstGeom>
          <a:noFill/>
          <a:ln>
            <a:noFill/>
          </a:ln>
        </p:spPr>
        <p:txBody>
          <a:bodyPr spcFirstLastPara="1" wrap="square" lIns="0" tIns="0" rIns="0" bIns="0" anchor="ctr" anchorCtr="0">
            <a:noAutofit/>
          </a:bodyPr>
          <a:lstStyle/>
          <a:p>
            <a:pPr algn="l">
              <a:defRPr sz="2800" b="1">
                <a:latin typeface="Arial"/>
              </a:defRPr>
            </a:pPr>
            <a:r>
              <a:rPr lang="en-IN" sz="3200" dirty="0"/>
              <a:t>  Problem Statement</a:t>
            </a:r>
            <a:endParaRPr sz="3200" dirty="0"/>
          </a:p>
        </p:txBody>
      </p:sp>
      <p:sp>
        <p:nvSpPr>
          <p:cNvPr id="2" name="Subtitle 1">
            <a:extLst>
              <a:ext uri="{FF2B5EF4-FFF2-40B4-BE49-F238E27FC236}">
                <a16:creationId xmlns:a16="http://schemas.microsoft.com/office/drawing/2014/main" id="{F66B1957-FC10-389A-B6A2-E1544B8FB1FD}"/>
              </a:ext>
            </a:extLst>
          </p:cNvPr>
          <p:cNvSpPr>
            <a:spLocks noGrp="1" noChangeArrowheads="1"/>
          </p:cNvSpPr>
          <p:nvPr>
            <p:ph type="subTitle" idx="1"/>
          </p:nvPr>
        </p:nvSpPr>
        <p:spPr bwMode="auto">
          <a:xfrm>
            <a:off x="0" y="1365742"/>
            <a:ext cx="11475308" cy="3673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pPr algn="just">
              <a:buNone/>
            </a:pPr>
            <a:r>
              <a:rPr lang="en-US" sz="1600" b="0" i="0" dirty="0">
                <a:effectLst/>
                <a:latin typeface="+mj-lt"/>
              </a:rPr>
              <a:t>	Modern organizations face significant challenges in efficiently managing employee attendance, ensuring compliance with company policies and labor laws, and integrating attendance data with payroll and leave management systems. Manual attendance processes are prone to errors, time theft (such as buddy punching), and lack transparency for both employees and management. This leads to inaccurate payroll calculations, reduced productivity, and increased administrative workload for HR teams.</a:t>
            </a:r>
          </a:p>
          <a:p>
            <a:pPr algn="just">
              <a:buNone/>
            </a:pPr>
            <a:r>
              <a:rPr lang="en-US" sz="1600" b="0" i="0" dirty="0">
                <a:effectLst/>
                <a:latin typeface="+mj-lt"/>
              </a:rPr>
              <a:t>	There is a need for a secure, automated, and user-friendly Employee Management System that enables:</a:t>
            </a:r>
          </a:p>
          <a:p>
            <a:pPr algn="just"/>
            <a:r>
              <a:rPr lang="en-US" sz="1600" b="0" i="0" dirty="0">
                <a:effectLst/>
                <a:latin typeface="+mj-lt"/>
              </a:rPr>
              <a:t>Accurate and real-time attendance tracking (via web, mobile, or biometric methods),</a:t>
            </a:r>
          </a:p>
          <a:p>
            <a:pPr algn="just"/>
            <a:r>
              <a:rPr lang="en-US" sz="1600" b="0" i="0" dirty="0">
                <a:effectLst/>
                <a:latin typeface="+mj-lt"/>
              </a:rPr>
              <a:t>Role-based access and self-service for employees, HR, and administrators,</a:t>
            </a:r>
          </a:p>
          <a:p>
            <a:pPr algn="just"/>
            <a:r>
              <a:rPr lang="en-US" sz="1600" b="0" i="0" dirty="0">
                <a:effectLst/>
                <a:latin typeface="+mj-lt"/>
              </a:rPr>
              <a:t>Seamless integration with leave and payroll management,</a:t>
            </a:r>
          </a:p>
          <a:p>
            <a:pPr algn="just"/>
            <a:r>
              <a:rPr lang="en-US" sz="1600" b="0" i="0" dirty="0">
                <a:effectLst/>
                <a:latin typeface="+mj-lt"/>
              </a:rPr>
              <a:t>Automated reporting and compliance with labor regulations,</a:t>
            </a:r>
          </a:p>
          <a:p>
            <a:pPr algn="just"/>
            <a:r>
              <a:rPr lang="en-US" sz="1600" b="0" i="0" dirty="0">
                <a:effectLst/>
                <a:latin typeface="+mj-lt"/>
              </a:rPr>
              <a:t>And transparent dashboards for both employees and management.</a:t>
            </a:r>
          </a:p>
          <a:p>
            <a:pPr marL="0" indent="0" algn="just" eaLnBrk="0" fontAlgn="base" hangingPunct="0">
              <a:lnSpc>
                <a:spcPct val="100000"/>
              </a:lnSpc>
              <a:spcBef>
                <a:spcPct val="0"/>
              </a:spcBef>
              <a:spcAft>
                <a:spcPct val="0"/>
              </a:spcAft>
              <a:buClrTx/>
              <a:buSzTx/>
              <a:buNone/>
            </a:pPr>
            <a:endParaRPr lang="en-US" altLang="en-US" sz="1600" dirty="0">
              <a:solidFill>
                <a:schemeClr val="tx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42e7a972ef_1_25"/>
          <p:cNvSpPr txBox="1">
            <a:spLocks noGrp="1"/>
          </p:cNvSpPr>
          <p:nvPr>
            <p:ph type="title"/>
          </p:nvPr>
        </p:nvSpPr>
        <p:spPr>
          <a:xfrm>
            <a:off x="0" y="36132"/>
            <a:ext cx="5733600" cy="914100"/>
          </a:xfrm>
          <a:prstGeom prst="rect">
            <a:avLst/>
          </a:prstGeom>
        </p:spPr>
        <p:txBody>
          <a:bodyPr spcFirstLastPara="1" wrap="square" lIns="0" tIns="0" rIns="0" bIns="0" anchor="ctr" anchorCtr="0">
            <a:noAutofit/>
          </a:bodyPr>
          <a:lstStyle/>
          <a:p>
            <a:pPr indent="457189"/>
            <a:endParaRPr dirty="0"/>
          </a:p>
          <a:p>
            <a:pPr algn="l">
              <a:defRPr sz="2800" b="1">
                <a:latin typeface="Arial"/>
              </a:defRPr>
            </a:pPr>
            <a:br>
              <a:rPr lang="en-US" dirty="0"/>
            </a:br>
            <a:r>
              <a:rPr lang="en-IN" dirty="0"/>
              <a:t>  </a:t>
            </a:r>
            <a:r>
              <a:rPr dirty="0"/>
              <a:t>Key Functionalities</a:t>
            </a:r>
            <a:br>
              <a:rPr dirty="0"/>
            </a:br>
            <a:br>
              <a:rPr dirty="0"/>
            </a:br>
            <a:endParaRPr dirty="0"/>
          </a:p>
        </p:txBody>
      </p:sp>
      <p:sp>
        <p:nvSpPr>
          <p:cNvPr id="125" name="Google Shape;125;g342e7a972ef_1_25"/>
          <p:cNvSpPr txBox="1">
            <a:spLocks noGrp="1"/>
          </p:cNvSpPr>
          <p:nvPr>
            <p:ph type="subTitle" idx="1"/>
          </p:nvPr>
        </p:nvSpPr>
        <p:spPr>
          <a:xfrm>
            <a:off x="1983319" y="5604933"/>
            <a:ext cx="7440083" cy="1371600"/>
          </a:xfrm>
          <a:prstGeom prst="rect">
            <a:avLst/>
          </a:prstGeom>
        </p:spPr>
        <p:txBody>
          <a:bodyPr spcFirstLastPara="1" wrap="square" lIns="0" tIns="0" rIns="0" bIns="0" anchor="ctr" anchorCtr="0">
            <a:noAutofit/>
          </a:bodyPr>
          <a:lstStyle/>
          <a:p>
            <a:pPr marL="0" indent="0">
              <a:lnSpc>
                <a:spcPct val="115000"/>
              </a:lnSpc>
              <a:spcBef>
                <a:spcPts val="1200"/>
              </a:spcBef>
              <a:buSzPts val="1100"/>
              <a:buNone/>
            </a:pPr>
            <a:br>
              <a:rPr dirty="0"/>
            </a:br>
            <a:r>
              <a:rPr lang="en-US" dirty="0"/>
              <a:t>    </a:t>
            </a:r>
            <a:br>
              <a:rPr dirty="0"/>
            </a:br>
            <a:br>
              <a:rPr sz="2400" dirty="0"/>
            </a:br>
            <a:br>
              <a:rPr sz="2400" dirty="0"/>
            </a:br>
            <a:endParaRPr dirty="0"/>
          </a:p>
        </p:txBody>
      </p:sp>
      <p:sp>
        <p:nvSpPr>
          <p:cNvPr id="3" name="Rectangle 2">
            <a:extLst>
              <a:ext uri="{FF2B5EF4-FFF2-40B4-BE49-F238E27FC236}">
                <a16:creationId xmlns:a16="http://schemas.microsoft.com/office/drawing/2014/main" id="{AE3717DB-2894-49D8-56E0-FEE3B69AEB29}"/>
              </a:ext>
            </a:extLst>
          </p:cNvPr>
          <p:cNvSpPr>
            <a:spLocks noChangeArrowheads="1"/>
          </p:cNvSpPr>
          <p:nvPr/>
        </p:nvSpPr>
        <p:spPr bwMode="auto">
          <a:xfrm>
            <a:off x="262466" y="933299"/>
            <a:ext cx="11517641"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eaLnBrk="0" fontAlgn="base" hangingPunct="0">
              <a:spcBef>
                <a:spcPct val="0"/>
              </a:spcBef>
              <a:spcAft>
                <a:spcPct val="0"/>
              </a:spcAft>
              <a:buClrTx/>
              <a:buFont typeface="Arial" panose="020B0604020202020204" pitchFamily="34" charset="0"/>
              <a:buChar char="•"/>
            </a:pPr>
            <a:r>
              <a:rPr lang="en-US" sz="1800" b="1" dirty="0"/>
              <a:t>Authentication &amp; Authorization:</a:t>
            </a:r>
            <a:r>
              <a:rPr lang="en-US" sz="1800" dirty="0"/>
              <a:t> </a:t>
            </a:r>
            <a:r>
              <a:rPr lang="en-US" sz="1600" dirty="0"/>
              <a:t>Secure login system with role-based access control for Super Admin, Sub Admin, and Employee roles.</a:t>
            </a:r>
          </a:p>
          <a:p>
            <a:pPr marL="342900" indent="-342900" algn="just" eaLnBrk="0" fontAlgn="base" hangingPunct="0">
              <a:spcBef>
                <a:spcPct val="0"/>
              </a:spcBef>
              <a:spcAft>
                <a:spcPct val="0"/>
              </a:spcAft>
              <a:buClrTx/>
              <a:buFont typeface="Arial" panose="020B0604020202020204" pitchFamily="34" charset="0"/>
              <a:buChar char="•"/>
            </a:pPr>
            <a:endParaRPr lang="en-US" altLang="en-US" sz="1600" dirty="0">
              <a:solidFill>
                <a:schemeClr val="tx1"/>
              </a:solidFill>
              <a:latin typeface="Arial" panose="020B0604020202020204" pitchFamily="34" charset="0"/>
            </a:endParaRPr>
          </a:p>
          <a:p>
            <a:pPr marL="342900" indent="-342900" algn="just" eaLnBrk="0" fontAlgn="base" hangingPunct="0">
              <a:spcBef>
                <a:spcPct val="0"/>
              </a:spcBef>
              <a:spcAft>
                <a:spcPct val="0"/>
              </a:spcAft>
              <a:buClrTx/>
              <a:buFont typeface="Arial" panose="020B0604020202020204" pitchFamily="34" charset="0"/>
              <a:buChar char="•"/>
            </a:pPr>
            <a:r>
              <a:rPr lang="en-US" sz="1800" b="1" dirty="0"/>
              <a:t>Employee Onboarding:</a:t>
            </a:r>
            <a:r>
              <a:rPr lang="en-US" sz="1800" dirty="0"/>
              <a:t> </a:t>
            </a:r>
            <a:r>
              <a:rPr lang="en-US" sz="1600" dirty="0"/>
              <a:t>Allows admins to add new employees, assign roles, and link them to departments during onboarding.</a:t>
            </a:r>
          </a:p>
          <a:p>
            <a:pPr marL="342900" indent="-342900" algn="just" eaLnBrk="0" fontAlgn="base" hangingPunct="0">
              <a:spcBef>
                <a:spcPct val="0"/>
              </a:spcBef>
              <a:spcAft>
                <a:spcPct val="0"/>
              </a:spcAft>
              <a:buClrTx/>
              <a:buFont typeface="Arial" panose="020B0604020202020204" pitchFamily="34" charset="0"/>
              <a:buChar char="•"/>
            </a:pPr>
            <a:endParaRPr lang="en-US" altLang="en-US" sz="1600" dirty="0">
              <a:solidFill>
                <a:schemeClr val="tx1"/>
              </a:solidFill>
              <a:latin typeface="Arial" panose="020B0604020202020204" pitchFamily="34" charset="0"/>
            </a:endParaRPr>
          </a:p>
          <a:p>
            <a:pPr marL="342900" indent="-342900" algn="just" eaLnBrk="0" fontAlgn="base" hangingPunct="0">
              <a:spcBef>
                <a:spcPct val="0"/>
              </a:spcBef>
              <a:spcAft>
                <a:spcPct val="0"/>
              </a:spcAft>
              <a:buClrTx/>
              <a:buFont typeface="Arial" panose="020B0604020202020204" pitchFamily="34" charset="0"/>
              <a:buChar char="•"/>
            </a:pPr>
            <a:r>
              <a:rPr lang="en-US" sz="1800" b="1" dirty="0"/>
              <a:t>Role &amp; Department Management:</a:t>
            </a:r>
            <a:r>
              <a:rPr lang="en-US" sz="1800" dirty="0"/>
              <a:t> </a:t>
            </a:r>
            <a:r>
              <a:rPr lang="en-US" sz="1600" dirty="0"/>
              <a:t>Create, update, and organize roles, departments, and positions across the organization.</a:t>
            </a:r>
          </a:p>
          <a:p>
            <a:pPr marL="342900" indent="-342900" algn="just" eaLnBrk="0" fontAlgn="base" hangingPunct="0">
              <a:spcBef>
                <a:spcPct val="0"/>
              </a:spcBef>
              <a:spcAft>
                <a:spcPct val="0"/>
              </a:spcAft>
              <a:buClrTx/>
              <a:buFont typeface="Arial" panose="020B0604020202020204" pitchFamily="34" charset="0"/>
              <a:buChar char="•"/>
            </a:pPr>
            <a:endParaRPr lang="en-US" altLang="en-US" sz="1600" dirty="0">
              <a:solidFill>
                <a:schemeClr val="tx1"/>
              </a:solidFill>
              <a:latin typeface="Arial" panose="020B0604020202020204" pitchFamily="34" charset="0"/>
            </a:endParaRPr>
          </a:p>
          <a:p>
            <a:pPr marL="342900" indent="-342900" algn="just" eaLnBrk="0" fontAlgn="base" hangingPunct="0">
              <a:spcBef>
                <a:spcPct val="0"/>
              </a:spcBef>
              <a:spcAft>
                <a:spcPct val="0"/>
              </a:spcAft>
              <a:buClrTx/>
              <a:buFont typeface="Arial" panose="020B0604020202020204" pitchFamily="34" charset="0"/>
              <a:buChar char="•"/>
            </a:pPr>
            <a:r>
              <a:rPr lang="en-US" sz="1800" b="1" dirty="0"/>
              <a:t>Separate Portals:</a:t>
            </a:r>
            <a:r>
              <a:rPr lang="en-US" sz="1800" dirty="0"/>
              <a:t> </a:t>
            </a:r>
            <a:r>
              <a:rPr lang="en-US" sz="1600" dirty="0"/>
              <a:t>Dedicated login interfaces for admins and employees to ensure personalized access and functionality.</a:t>
            </a:r>
          </a:p>
          <a:p>
            <a:pPr marL="342900" indent="-342900" algn="just" eaLnBrk="0" fontAlgn="base" hangingPunct="0">
              <a:spcBef>
                <a:spcPct val="0"/>
              </a:spcBef>
              <a:spcAft>
                <a:spcPct val="0"/>
              </a:spcAft>
              <a:buClrTx/>
              <a:buFont typeface="Arial" panose="020B0604020202020204" pitchFamily="34" charset="0"/>
              <a:buChar char="•"/>
            </a:pPr>
            <a:endParaRPr lang="en-US" sz="1600" dirty="0"/>
          </a:p>
          <a:p>
            <a:pPr marL="342900" indent="-342900" algn="just" eaLnBrk="0" fontAlgn="base" hangingPunct="0">
              <a:spcBef>
                <a:spcPct val="0"/>
              </a:spcBef>
              <a:spcAft>
                <a:spcPct val="0"/>
              </a:spcAft>
              <a:buClrTx/>
              <a:buFont typeface="Arial" panose="020B0604020202020204" pitchFamily="34" charset="0"/>
              <a:buChar char="•"/>
            </a:pPr>
            <a:r>
              <a:rPr lang="en-US" sz="1800" b="1" dirty="0"/>
              <a:t>Timesheet &amp; Attendance Tracking:</a:t>
            </a:r>
            <a:r>
              <a:rPr lang="en-US" sz="1800" dirty="0"/>
              <a:t> </a:t>
            </a:r>
            <a:r>
              <a:rPr lang="en-US" sz="1600" dirty="0"/>
              <a:t>Manage weekly and daily timesheets with approval workflows for better attendance monitoring.</a:t>
            </a:r>
          </a:p>
          <a:p>
            <a:pPr marL="342900" indent="-342900" algn="just" eaLnBrk="0" fontAlgn="base" hangingPunct="0">
              <a:spcBef>
                <a:spcPct val="0"/>
              </a:spcBef>
              <a:spcAft>
                <a:spcPct val="0"/>
              </a:spcAft>
              <a:buClrTx/>
              <a:buFont typeface="Arial" panose="020B0604020202020204" pitchFamily="34" charset="0"/>
              <a:buChar char="•"/>
            </a:pPr>
            <a:endParaRPr lang="en-US" sz="1600" dirty="0"/>
          </a:p>
          <a:p>
            <a:pPr marL="342900" indent="-342900" algn="just" eaLnBrk="0" fontAlgn="base" hangingPunct="0">
              <a:spcBef>
                <a:spcPct val="0"/>
              </a:spcBef>
              <a:spcAft>
                <a:spcPct val="0"/>
              </a:spcAft>
              <a:buClrTx/>
              <a:buFont typeface="Arial" panose="020B0604020202020204" pitchFamily="34" charset="0"/>
              <a:buChar char="•"/>
            </a:pPr>
            <a:r>
              <a:rPr lang="en-US" sz="1800" b="1" dirty="0"/>
              <a:t>Employee Profile Management:</a:t>
            </a:r>
            <a:r>
              <a:rPr lang="en-US" sz="1800" dirty="0"/>
              <a:t> </a:t>
            </a:r>
            <a:r>
              <a:rPr lang="en-US" sz="1600" dirty="0"/>
              <a:t>Employees can view and update their personal and professional details.</a:t>
            </a:r>
          </a:p>
          <a:p>
            <a:pPr marL="342900" indent="-342900" algn="just" eaLnBrk="0" fontAlgn="base" hangingPunct="0">
              <a:spcBef>
                <a:spcPct val="0"/>
              </a:spcBef>
              <a:spcAft>
                <a:spcPct val="0"/>
              </a:spcAft>
              <a:buClrTx/>
              <a:buFont typeface="Arial" panose="020B0604020202020204" pitchFamily="34" charset="0"/>
              <a:buChar char="•"/>
            </a:pPr>
            <a:endParaRPr lang="en-US" sz="1600" dirty="0"/>
          </a:p>
          <a:p>
            <a:pPr marL="342900" indent="-342900" algn="just" eaLnBrk="0" fontAlgn="base" hangingPunct="0">
              <a:spcBef>
                <a:spcPct val="0"/>
              </a:spcBef>
              <a:spcAft>
                <a:spcPct val="0"/>
              </a:spcAft>
              <a:buClrTx/>
              <a:buFont typeface="Arial" panose="020B0604020202020204" pitchFamily="34" charset="0"/>
              <a:buChar char="•"/>
            </a:pPr>
            <a:r>
              <a:rPr lang="en-US" sz="1800" b="1" dirty="0"/>
              <a:t>Entity Control:</a:t>
            </a:r>
            <a:r>
              <a:rPr lang="en-US" sz="1800" dirty="0"/>
              <a:t> </a:t>
            </a:r>
            <a:r>
              <a:rPr lang="en-US" sz="1600" dirty="0"/>
              <a:t>Soft-delete, activate, or deactivate users, roles, and departments as needed.</a:t>
            </a:r>
          </a:p>
          <a:p>
            <a:pPr marL="342900" indent="-342900" algn="just" eaLnBrk="0" fontAlgn="base" hangingPunct="0">
              <a:spcBef>
                <a:spcPct val="0"/>
              </a:spcBef>
              <a:spcAft>
                <a:spcPct val="0"/>
              </a:spcAft>
              <a:buClrTx/>
              <a:buFont typeface="Arial" panose="020B0604020202020204" pitchFamily="34" charset="0"/>
              <a:buChar char="•"/>
            </a:pPr>
            <a:endParaRPr lang="en-US" sz="1600" dirty="0"/>
          </a:p>
          <a:p>
            <a:pPr marL="342900" indent="-342900" algn="just" eaLnBrk="0" fontAlgn="base" hangingPunct="0">
              <a:spcBef>
                <a:spcPct val="0"/>
              </a:spcBef>
              <a:spcAft>
                <a:spcPct val="0"/>
              </a:spcAft>
              <a:buClrTx/>
              <a:buFont typeface="Arial" panose="020B0604020202020204" pitchFamily="34" charset="0"/>
              <a:buChar char="•"/>
            </a:pPr>
            <a:r>
              <a:rPr lang="en-US" sz="1800" b="1" dirty="0"/>
              <a:t>Database Management:</a:t>
            </a:r>
            <a:r>
              <a:rPr lang="en-US" sz="1800" dirty="0"/>
              <a:t> </a:t>
            </a:r>
            <a:r>
              <a:rPr lang="en-US" sz="1600" dirty="0"/>
              <a:t>Uses Prisma ORM with PostgreSQL for efficient and secure data handling.</a:t>
            </a:r>
          </a:p>
          <a:p>
            <a:pPr marL="342900" indent="-342900" algn="just" eaLnBrk="0" fontAlgn="base" hangingPunct="0">
              <a:spcBef>
                <a:spcPct val="0"/>
              </a:spcBef>
              <a:spcAft>
                <a:spcPct val="0"/>
              </a:spcAft>
              <a:buClrTx/>
              <a:buFont typeface="Arial" panose="020B0604020202020204" pitchFamily="34" charset="0"/>
              <a:buChar char="•"/>
            </a:pPr>
            <a:endParaRPr lang="en-US" sz="1600" dirty="0"/>
          </a:p>
          <a:p>
            <a:pPr marL="342900" indent="-342900" algn="just" eaLnBrk="0" fontAlgn="base" hangingPunct="0">
              <a:spcBef>
                <a:spcPct val="0"/>
              </a:spcBef>
              <a:spcAft>
                <a:spcPct val="0"/>
              </a:spcAft>
              <a:buClrTx/>
              <a:buFont typeface="Arial" panose="020B0604020202020204" pitchFamily="34" charset="0"/>
              <a:buChar char="•"/>
            </a:pPr>
            <a:r>
              <a:rPr lang="en-US" sz="1800" b="1" dirty="0"/>
              <a:t>Access Levels:</a:t>
            </a:r>
            <a:r>
              <a:rPr lang="en-US" sz="1800" dirty="0"/>
              <a:t> </a:t>
            </a:r>
            <a:r>
              <a:rPr lang="en-US" sz="1600" dirty="0"/>
              <a:t>Granular access permissions for different user roles to maintain data integrity and security.</a:t>
            </a:r>
            <a:endParaRPr lang="en-US" altLang="en-US" sz="1600" dirty="0">
              <a:solidFill>
                <a:schemeClr val="tx1"/>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42e7a972ef_1_32"/>
          <p:cNvSpPr txBox="1">
            <a:spLocks noGrp="1"/>
          </p:cNvSpPr>
          <p:nvPr>
            <p:ph type="title"/>
          </p:nvPr>
        </p:nvSpPr>
        <p:spPr>
          <a:xfrm>
            <a:off x="1524003" y="3"/>
            <a:ext cx="5486100" cy="914100"/>
          </a:xfrm>
          <a:prstGeom prst="rect">
            <a:avLst/>
          </a:prstGeom>
        </p:spPr>
        <p:txBody>
          <a:bodyPr spcFirstLastPara="1" wrap="square" lIns="0" tIns="0" rIns="0" bIns="0" anchor="ctr" anchorCtr="0">
            <a:noAutofit/>
          </a:bodyPr>
          <a:lstStyle/>
          <a:p>
            <a:endParaRPr dirty="0"/>
          </a:p>
          <a:p>
            <a:pPr algn="l">
              <a:defRPr sz="2800" b="1">
                <a:latin typeface="Arial"/>
              </a:defRPr>
            </a:pPr>
            <a:r>
              <a:rPr lang="en-US" dirty="0"/>
              <a:t>  </a:t>
            </a:r>
            <a:br>
              <a:rPr lang="en-US" dirty="0"/>
            </a:br>
            <a:r>
              <a:rPr lang="en-US" dirty="0"/>
              <a:t>  </a:t>
            </a:r>
            <a:r>
              <a:rPr dirty="0"/>
              <a:t>System Architecture</a:t>
            </a:r>
            <a:br>
              <a:rPr dirty="0"/>
            </a:br>
            <a:br>
              <a:rPr dirty="0"/>
            </a:br>
            <a:endParaRPr dirty="0"/>
          </a:p>
        </p:txBody>
      </p:sp>
      <p:pic>
        <p:nvPicPr>
          <p:cNvPr id="3" name="Picture 2">
            <a:extLst>
              <a:ext uri="{FF2B5EF4-FFF2-40B4-BE49-F238E27FC236}">
                <a16:creationId xmlns:a16="http://schemas.microsoft.com/office/drawing/2014/main" id="{54C6F2D2-D586-1BAE-0FEE-9B6F3F094EAB}"/>
              </a:ext>
            </a:extLst>
          </p:cNvPr>
          <p:cNvPicPr>
            <a:picLocks noChangeAspect="1"/>
          </p:cNvPicPr>
          <p:nvPr/>
        </p:nvPicPr>
        <p:blipFill>
          <a:blip r:embed="rId3"/>
          <a:stretch>
            <a:fillRect/>
          </a:stretch>
        </p:blipFill>
        <p:spPr>
          <a:xfrm>
            <a:off x="922867" y="922567"/>
            <a:ext cx="9922933" cy="5715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D4D5-CC59-FA29-FB4A-062BFCEB95F1}"/>
              </a:ext>
            </a:extLst>
          </p:cNvPr>
          <p:cNvSpPr>
            <a:spLocks noGrp="1"/>
          </p:cNvSpPr>
          <p:nvPr>
            <p:ph type="title"/>
          </p:nvPr>
        </p:nvSpPr>
        <p:spPr>
          <a:xfrm>
            <a:off x="1524000" y="0"/>
            <a:ext cx="6115051" cy="914040"/>
          </a:xfrm>
        </p:spPr>
        <p:txBody>
          <a:bodyPr/>
          <a:lstStyle/>
          <a:p>
            <a:r>
              <a:rPr lang="en-IN" sz="3200" b="1" dirty="0"/>
              <a:t>  Employee Login Process</a:t>
            </a:r>
            <a:endParaRPr lang="en-IN" sz="3200" dirty="0"/>
          </a:p>
        </p:txBody>
      </p:sp>
      <p:pic>
        <p:nvPicPr>
          <p:cNvPr id="6" name="Picture 5">
            <a:extLst>
              <a:ext uri="{FF2B5EF4-FFF2-40B4-BE49-F238E27FC236}">
                <a16:creationId xmlns:a16="http://schemas.microsoft.com/office/drawing/2014/main" id="{A4B5DAD1-D50A-5008-FFD8-D9BFA456A698}"/>
              </a:ext>
            </a:extLst>
          </p:cNvPr>
          <p:cNvPicPr>
            <a:picLocks noChangeAspect="1"/>
          </p:cNvPicPr>
          <p:nvPr/>
        </p:nvPicPr>
        <p:blipFill>
          <a:blip r:embed="rId2"/>
          <a:stretch>
            <a:fillRect/>
          </a:stretch>
        </p:blipFill>
        <p:spPr>
          <a:xfrm>
            <a:off x="2209800" y="914040"/>
            <a:ext cx="7222066" cy="5757335"/>
          </a:xfrm>
          <a:prstGeom prst="rect">
            <a:avLst/>
          </a:prstGeom>
        </p:spPr>
      </p:pic>
    </p:spTree>
    <p:extLst>
      <p:ext uri="{BB962C8B-B14F-4D97-AF65-F5344CB8AC3E}">
        <p14:creationId xmlns:p14="http://schemas.microsoft.com/office/powerpoint/2010/main" val="2371828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FFCA-0CA4-F439-7FDE-D1F35E390C21}"/>
              </a:ext>
            </a:extLst>
          </p:cNvPr>
          <p:cNvSpPr>
            <a:spLocks noGrp="1"/>
          </p:cNvSpPr>
          <p:nvPr>
            <p:ph type="title"/>
          </p:nvPr>
        </p:nvSpPr>
        <p:spPr>
          <a:xfrm>
            <a:off x="1524003" y="0"/>
            <a:ext cx="6305551" cy="914040"/>
          </a:xfrm>
        </p:spPr>
        <p:txBody>
          <a:bodyPr/>
          <a:lstStyle/>
          <a:p>
            <a:r>
              <a:rPr lang="en-IN" sz="4000" b="1" dirty="0"/>
              <a:t>Admin Login Process</a:t>
            </a:r>
          </a:p>
        </p:txBody>
      </p:sp>
      <p:pic>
        <p:nvPicPr>
          <p:cNvPr id="6" name="Picture 5">
            <a:extLst>
              <a:ext uri="{FF2B5EF4-FFF2-40B4-BE49-F238E27FC236}">
                <a16:creationId xmlns:a16="http://schemas.microsoft.com/office/drawing/2014/main" id="{3E6EB17A-8FC9-9082-21C8-524AF7C17323}"/>
              </a:ext>
            </a:extLst>
          </p:cNvPr>
          <p:cNvPicPr>
            <a:picLocks noChangeAspect="1"/>
          </p:cNvPicPr>
          <p:nvPr/>
        </p:nvPicPr>
        <p:blipFill>
          <a:blip r:embed="rId2"/>
          <a:stretch>
            <a:fillRect/>
          </a:stretch>
        </p:blipFill>
        <p:spPr>
          <a:xfrm>
            <a:off x="1705858" y="914043"/>
            <a:ext cx="8779932" cy="5722527"/>
          </a:xfrm>
          <a:prstGeom prst="rect">
            <a:avLst/>
          </a:prstGeom>
        </p:spPr>
      </p:pic>
    </p:spTree>
    <p:extLst>
      <p:ext uri="{BB962C8B-B14F-4D97-AF65-F5344CB8AC3E}">
        <p14:creationId xmlns:p14="http://schemas.microsoft.com/office/powerpoint/2010/main" val="323784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2C42-2AE7-1F28-A222-309C1B844E81}"/>
              </a:ext>
            </a:extLst>
          </p:cNvPr>
          <p:cNvSpPr>
            <a:spLocks noGrp="1"/>
          </p:cNvSpPr>
          <p:nvPr>
            <p:ph type="title"/>
          </p:nvPr>
        </p:nvSpPr>
        <p:spPr>
          <a:xfrm>
            <a:off x="1524000" y="0"/>
            <a:ext cx="6197600" cy="914040"/>
          </a:xfrm>
        </p:spPr>
        <p:txBody>
          <a:bodyPr/>
          <a:lstStyle/>
          <a:p>
            <a:r>
              <a:rPr lang="en-IN" sz="4000" b="1" dirty="0"/>
              <a:t>Simple Payroll Process</a:t>
            </a:r>
          </a:p>
        </p:txBody>
      </p:sp>
      <p:pic>
        <p:nvPicPr>
          <p:cNvPr id="9" name="Picture 8">
            <a:extLst>
              <a:ext uri="{FF2B5EF4-FFF2-40B4-BE49-F238E27FC236}">
                <a16:creationId xmlns:a16="http://schemas.microsoft.com/office/drawing/2014/main" id="{18C74FF4-E245-48D6-6A4E-DEA6FD6ECEEE}"/>
              </a:ext>
            </a:extLst>
          </p:cNvPr>
          <p:cNvPicPr>
            <a:picLocks noChangeAspect="1"/>
          </p:cNvPicPr>
          <p:nvPr/>
        </p:nvPicPr>
        <p:blipFill>
          <a:blip r:embed="rId2"/>
          <a:stretch>
            <a:fillRect/>
          </a:stretch>
        </p:blipFill>
        <p:spPr>
          <a:xfrm>
            <a:off x="3204744" y="905573"/>
            <a:ext cx="4821656" cy="5723467"/>
          </a:xfrm>
          <a:prstGeom prst="rect">
            <a:avLst/>
          </a:prstGeom>
        </p:spPr>
      </p:pic>
    </p:spTree>
    <p:extLst>
      <p:ext uri="{BB962C8B-B14F-4D97-AF65-F5344CB8AC3E}">
        <p14:creationId xmlns:p14="http://schemas.microsoft.com/office/powerpoint/2010/main" val="336069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8F68B-DFD6-68C5-F683-9E2E69E957B3}"/>
              </a:ext>
            </a:extLst>
          </p:cNvPr>
          <p:cNvSpPr>
            <a:spLocks noGrp="1"/>
          </p:cNvSpPr>
          <p:nvPr>
            <p:ph type="title"/>
          </p:nvPr>
        </p:nvSpPr>
        <p:spPr/>
        <p:txBody>
          <a:bodyPr/>
          <a:lstStyle/>
          <a:p>
            <a:r>
              <a:rPr lang="en-IN" sz="4000" b="1" dirty="0"/>
              <a:t>Attendance Tracking</a:t>
            </a:r>
          </a:p>
        </p:txBody>
      </p:sp>
      <p:pic>
        <p:nvPicPr>
          <p:cNvPr id="8" name="Picture 7">
            <a:extLst>
              <a:ext uri="{FF2B5EF4-FFF2-40B4-BE49-F238E27FC236}">
                <a16:creationId xmlns:a16="http://schemas.microsoft.com/office/drawing/2014/main" id="{433F05BD-CC6B-BF52-5318-93C6CED838B2}"/>
              </a:ext>
            </a:extLst>
          </p:cNvPr>
          <p:cNvPicPr>
            <a:picLocks noChangeAspect="1"/>
          </p:cNvPicPr>
          <p:nvPr/>
        </p:nvPicPr>
        <p:blipFill>
          <a:blip r:embed="rId2"/>
          <a:stretch>
            <a:fillRect/>
          </a:stretch>
        </p:blipFill>
        <p:spPr>
          <a:xfrm>
            <a:off x="2692159" y="914040"/>
            <a:ext cx="5698307" cy="5647268"/>
          </a:xfrm>
          <a:prstGeom prst="rect">
            <a:avLst/>
          </a:prstGeom>
        </p:spPr>
      </p:pic>
    </p:spTree>
    <p:extLst>
      <p:ext uri="{BB962C8B-B14F-4D97-AF65-F5344CB8AC3E}">
        <p14:creationId xmlns:p14="http://schemas.microsoft.com/office/powerpoint/2010/main" val="3402738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5898B-7D69-3A81-8A99-29ED35FC7AC0}"/>
              </a:ext>
            </a:extLst>
          </p:cNvPr>
          <p:cNvSpPr>
            <a:spLocks noGrp="1"/>
          </p:cNvSpPr>
          <p:nvPr>
            <p:ph type="title"/>
          </p:nvPr>
        </p:nvSpPr>
        <p:spPr/>
        <p:txBody>
          <a:bodyPr/>
          <a:lstStyle/>
          <a:p>
            <a:r>
              <a:rPr lang="en-US" sz="2400" dirty="0"/>
              <a:t>   Project Screenshots:</a:t>
            </a:r>
            <a:br>
              <a:rPr lang="en-US" sz="2400" dirty="0"/>
            </a:br>
            <a:r>
              <a:rPr lang="en-US" sz="2400" dirty="0"/>
              <a:t>   1.Login as SuperAdmin/SubAdmin</a:t>
            </a:r>
            <a:endParaRPr lang="en-IN" sz="2400" dirty="0"/>
          </a:p>
        </p:txBody>
      </p:sp>
      <p:pic>
        <p:nvPicPr>
          <p:cNvPr id="3" name="Picture 2">
            <a:extLst>
              <a:ext uri="{FF2B5EF4-FFF2-40B4-BE49-F238E27FC236}">
                <a16:creationId xmlns:a16="http://schemas.microsoft.com/office/drawing/2014/main" id="{66101E2B-8194-DE78-DB9B-4F9AF603C5D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0" y="1253067"/>
            <a:ext cx="9347199" cy="4893733"/>
          </a:xfrm>
          <a:prstGeom prst="rect">
            <a:avLst/>
          </a:prstGeom>
          <a:noFill/>
          <a:ln>
            <a:noFill/>
          </a:ln>
        </p:spPr>
      </p:pic>
    </p:spTree>
    <p:extLst>
      <p:ext uri="{BB962C8B-B14F-4D97-AF65-F5344CB8AC3E}">
        <p14:creationId xmlns:p14="http://schemas.microsoft.com/office/powerpoint/2010/main" val="2394451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DA78F-E147-EA68-EB6B-9221B3C39359}"/>
              </a:ext>
            </a:extLst>
          </p:cNvPr>
          <p:cNvSpPr>
            <a:spLocks noGrp="1"/>
          </p:cNvSpPr>
          <p:nvPr>
            <p:ph type="title"/>
          </p:nvPr>
        </p:nvSpPr>
        <p:spPr/>
        <p:txBody>
          <a:bodyPr/>
          <a:lstStyle/>
          <a:p>
            <a:r>
              <a:rPr lang="en-US" sz="2400" dirty="0"/>
              <a:t>   Project Screenshots:</a:t>
            </a:r>
            <a:br>
              <a:rPr lang="en-US" sz="2400" dirty="0"/>
            </a:br>
            <a:r>
              <a:rPr lang="en-US" sz="2400" dirty="0"/>
              <a:t>   2. Admin Dashboard</a:t>
            </a:r>
            <a:endParaRPr lang="en-IN" sz="2400" dirty="0"/>
          </a:p>
        </p:txBody>
      </p:sp>
      <p:pic>
        <p:nvPicPr>
          <p:cNvPr id="5" name="Picture 4">
            <a:extLst>
              <a:ext uri="{FF2B5EF4-FFF2-40B4-BE49-F238E27FC236}">
                <a16:creationId xmlns:a16="http://schemas.microsoft.com/office/drawing/2014/main" id="{82E46ECA-6E4C-D096-572A-F654353ABA7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6733" y="1109134"/>
            <a:ext cx="10083800" cy="5257800"/>
          </a:xfrm>
          <a:prstGeom prst="rect">
            <a:avLst/>
          </a:prstGeom>
          <a:noFill/>
          <a:ln>
            <a:noFill/>
          </a:ln>
        </p:spPr>
      </p:pic>
    </p:spTree>
    <p:extLst>
      <p:ext uri="{BB962C8B-B14F-4D97-AF65-F5344CB8AC3E}">
        <p14:creationId xmlns:p14="http://schemas.microsoft.com/office/powerpoint/2010/main" val="4175221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95722-1C35-AA43-E9FE-117FDDC5C89A}"/>
              </a:ext>
            </a:extLst>
          </p:cNvPr>
          <p:cNvSpPr>
            <a:spLocks noGrp="1"/>
          </p:cNvSpPr>
          <p:nvPr>
            <p:ph type="title"/>
          </p:nvPr>
        </p:nvSpPr>
        <p:spPr/>
        <p:txBody>
          <a:bodyPr/>
          <a:lstStyle/>
          <a:p>
            <a:r>
              <a:rPr lang="en-US" sz="2400" dirty="0"/>
              <a:t>   Project Screenshots:</a:t>
            </a:r>
            <a:br>
              <a:rPr lang="en-US" sz="2400" dirty="0"/>
            </a:br>
            <a:r>
              <a:rPr lang="en-US" sz="2400" dirty="0"/>
              <a:t>   2. Employee Dashboard</a:t>
            </a:r>
            <a:endParaRPr lang="en-IN" sz="2400" dirty="0"/>
          </a:p>
        </p:txBody>
      </p:sp>
      <p:pic>
        <p:nvPicPr>
          <p:cNvPr id="5" name="Picture 4">
            <a:extLst>
              <a:ext uri="{FF2B5EF4-FFF2-40B4-BE49-F238E27FC236}">
                <a16:creationId xmlns:a16="http://schemas.microsoft.com/office/drawing/2014/main" id="{806F5D85-18CA-A812-7F6C-AC33A3CC4B0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5933" y="1092200"/>
            <a:ext cx="9855200" cy="5469467"/>
          </a:xfrm>
          <a:prstGeom prst="rect">
            <a:avLst/>
          </a:prstGeom>
          <a:noFill/>
          <a:ln>
            <a:noFill/>
          </a:ln>
        </p:spPr>
      </p:pic>
    </p:spTree>
    <p:extLst>
      <p:ext uri="{BB962C8B-B14F-4D97-AF65-F5344CB8AC3E}">
        <p14:creationId xmlns:p14="http://schemas.microsoft.com/office/powerpoint/2010/main" val="306601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342e7a972ef_1_41"/>
          <p:cNvSpPr txBox="1">
            <a:spLocks noGrp="1"/>
          </p:cNvSpPr>
          <p:nvPr>
            <p:ph type="title"/>
          </p:nvPr>
        </p:nvSpPr>
        <p:spPr>
          <a:xfrm>
            <a:off x="143934" y="321735"/>
            <a:ext cx="6720600" cy="491066"/>
          </a:xfrm>
          <a:prstGeom prst="rect">
            <a:avLst/>
          </a:prstGeom>
        </p:spPr>
        <p:txBody>
          <a:bodyPr spcFirstLastPara="1" wrap="square" lIns="0" tIns="0" rIns="0" bIns="0" anchor="ctr" anchorCtr="0">
            <a:noAutofit/>
          </a:bodyPr>
          <a:lstStyle/>
          <a:p>
            <a:endParaRPr sz="4100" dirty="0"/>
          </a:p>
          <a:p>
            <a:pPr algn="l">
              <a:defRPr sz="2800" b="1">
                <a:latin typeface="Arial"/>
              </a:defRPr>
            </a:pPr>
            <a:r>
              <a:rPr dirty="0"/>
              <a:t>Future Scope</a:t>
            </a:r>
            <a:br>
              <a:rPr dirty="0"/>
            </a:br>
            <a:br>
              <a:rPr dirty="0"/>
            </a:br>
            <a:endParaRPr dirty="0"/>
          </a:p>
        </p:txBody>
      </p:sp>
      <p:sp>
        <p:nvSpPr>
          <p:cNvPr id="2" name="Subtitle 1">
            <a:extLst>
              <a:ext uri="{FF2B5EF4-FFF2-40B4-BE49-F238E27FC236}">
                <a16:creationId xmlns:a16="http://schemas.microsoft.com/office/drawing/2014/main" id="{5F59BF98-6B02-1AC9-D304-131C9BDB6C8E}"/>
              </a:ext>
            </a:extLst>
          </p:cNvPr>
          <p:cNvSpPr>
            <a:spLocks noGrp="1" noChangeArrowheads="1"/>
          </p:cNvSpPr>
          <p:nvPr>
            <p:ph type="subTitle" idx="1"/>
          </p:nvPr>
        </p:nvSpPr>
        <p:spPr bwMode="auto">
          <a:xfrm>
            <a:off x="143934" y="711029"/>
            <a:ext cx="9601199" cy="452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pPr marL="50800" indent="0">
              <a:buNone/>
            </a:pPr>
            <a:r>
              <a:rPr lang="en-IN" sz="1600" dirty="0"/>
              <a:t>1. </a:t>
            </a:r>
            <a:r>
              <a:rPr lang="en-IN" sz="1600" b="1" dirty="0"/>
              <a:t>Smart Attendance System with Face Recognition &amp; Geo-Fencing</a:t>
            </a:r>
            <a:br>
              <a:rPr lang="en-IN" sz="1600" dirty="0"/>
            </a:br>
            <a:r>
              <a:rPr lang="en-IN" sz="1600" dirty="0"/>
              <a:t>→ Integrate webcam-based facial recognition using TensorFlow.js</a:t>
            </a:r>
            <a:br>
              <a:rPr lang="en-IN" sz="1600" dirty="0"/>
            </a:br>
            <a:r>
              <a:rPr lang="en-IN" sz="1600" dirty="0"/>
              <a:t>→ Combine with GPS coordinates to ensure employee is at authorized location</a:t>
            </a:r>
            <a:br>
              <a:rPr lang="en-IN" sz="1600" dirty="0"/>
            </a:br>
            <a:r>
              <a:rPr lang="en-IN" sz="1600" dirty="0"/>
              <a:t>→ Helps prevent proxy attendance and supports hybrid/remote </a:t>
            </a:r>
          </a:p>
          <a:p>
            <a:pPr marL="50800" indent="0">
              <a:buNone/>
            </a:pPr>
            <a:endParaRPr lang="en-IN" sz="1600" dirty="0"/>
          </a:p>
          <a:p>
            <a:pPr>
              <a:buNone/>
            </a:pPr>
            <a:r>
              <a:rPr lang="en-IN" sz="1600" dirty="0"/>
              <a:t>2. </a:t>
            </a:r>
            <a:r>
              <a:rPr lang="en-IN" sz="1600" b="1" dirty="0"/>
              <a:t>Built-in Real-time Chat &amp; Announcements with Read Tracking</a:t>
            </a:r>
          </a:p>
          <a:p>
            <a:pPr>
              <a:buNone/>
            </a:pPr>
            <a:r>
              <a:rPr lang="en-IN" sz="1600" dirty="0"/>
              <a:t>→ Add internal messaging system using Socket.io </a:t>
            </a:r>
          </a:p>
          <a:p>
            <a:pPr>
              <a:buNone/>
            </a:pPr>
            <a:r>
              <a:rPr lang="en-IN" sz="1600" dirty="0"/>
              <a:t>→ Include “seen/unseen” status for transparency </a:t>
            </a:r>
          </a:p>
          <a:p>
            <a:pPr>
              <a:buNone/>
            </a:pPr>
            <a:r>
              <a:rPr lang="en-IN" sz="1600" dirty="0"/>
              <a:t>→ Improves coordination across departments </a:t>
            </a:r>
          </a:p>
          <a:p>
            <a:pPr>
              <a:buNone/>
            </a:pPr>
            <a:endParaRPr lang="en-IN" sz="1600" dirty="0"/>
          </a:p>
          <a:p>
            <a:pPr marL="50800" indent="0">
              <a:buNone/>
            </a:pPr>
            <a:r>
              <a:rPr lang="en-IN" sz="1600" dirty="0"/>
              <a:t>3. </a:t>
            </a:r>
            <a:r>
              <a:rPr lang="en-IN" sz="1600" b="1" dirty="0"/>
              <a:t>Automated Document Generator (Salary Slips, Offer Letters, etc.)</a:t>
            </a:r>
            <a:br>
              <a:rPr lang="en-IN" sz="1600" dirty="0"/>
            </a:br>
            <a:r>
              <a:rPr lang="en-IN" sz="1600" dirty="0"/>
              <a:t>→ Generate downloadable PDF documents dynamically using pdfkit</a:t>
            </a:r>
            <a:br>
              <a:rPr lang="en-IN" sz="1600" dirty="0"/>
            </a:br>
            <a:r>
              <a:rPr lang="en-IN" sz="1600" dirty="0"/>
              <a:t>→ HR/Admin can auto-fill details from database templates with one click</a:t>
            </a:r>
            <a:br>
              <a:rPr lang="en-IN" sz="1600" dirty="0"/>
            </a:br>
            <a:r>
              <a:rPr lang="en-IN" sz="1600" dirty="0"/>
              <a:t>→ Saves manual effort and standardizes official documentation processes</a:t>
            </a:r>
          </a:p>
          <a:p>
            <a:pPr marL="0" indent="0" eaLnBrk="0" fontAlgn="base" hangingPunct="0">
              <a:lnSpc>
                <a:spcPct val="100000"/>
              </a:lnSpc>
              <a:spcBef>
                <a:spcPct val="0"/>
              </a:spcBef>
              <a:spcAft>
                <a:spcPct val="0"/>
              </a:spcAft>
              <a:buClrTx/>
              <a:buSzTx/>
              <a:buFontTx/>
              <a:buChar char="•"/>
            </a:pPr>
            <a:endParaRPr lang="en-US" altLang="en-US" sz="2000" dirty="0">
              <a:solidFill>
                <a:schemeClr val="tx1"/>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7"/>
          <p:cNvSpPr txBox="1">
            <a:spLocks noGrp="1"/>
          </p:cNvSpPr>
          <p:nvPr>
            <p:ph type="title"/>
          </p:nvPr>
        </p:nvSpPr>
        <p:spPr>
          <a:xfrm>
            <a:off x="127000" y="0"/>
            <a:ext cx="5486040" cy="914040"/>
          </a:xfrm>
          <a:prstGeom prst="rect">
            <a:avLst/>
          </a:prstGeom>
          <a:noFill/>
          <a:ln>
            <a:noFill/>
          </a:ln>
        </p:spPr>
        <p:txBody>
          <a:bodyPr spcFirstLastPara="1" wrap="square" lIns="0" tIns="0" rIns="0" bIns="0" anchor="ctr" anchorCtr="0">
            <a:noAutofit/>
          </a:bodyPr>
          <a:lstStyle/>
          <a:p>
            <a:pPr algn="ctr">
              <a:buSzPts val="3200"/>
            </a:pPr>
            <a:endParaRPr sz="3200" dirty="0">
              <a:latin typeface="Times New Roman"/>
              <a:ea typeface="Times New Roman"/>
              <a:cs typeface="Times New Roman"/>
              <a:sym typeface="Times New Roman"/>
            </a:endParaRPr>
          </a:p>
          <a:p>
            <a:pPr algn="l">
              <a:defRPr sz="2800" b="1">
                <a:latin typeface="Arial"/>
              </a:defRPr>
            </a:pPr>
            <a:br>
              <a:rPr lang="en-US" dirty="0"/>
            </a:br>
            <a:r>
              <a:rPr dirty="0"/>
              <a:t>Conclusion</a:t>
            </a:r>
            <a:br>
              <a:rPr dirty="0"/>
            </a:br>
            <a:br>
              <a:rPr dirty="0"/>
            </a:br>
            <a:endParaRPr dirty="0"/>
          </a:p>
        </p:txBody>
      </p:sp>
      <p:sp>
        <p:nvSpPr>
          <p:cNvPr id="186" name="Google Shape;186;p7"/>
          <p:cNvSpPr txBox="1">
            <a:spLocks noGrp="1"/>
          </p:cNvSpPr>
          <p:nvPr>
            <p:ph type="subTitle" idx="1"/>
          </p:nvPr>
        </p:nvSpPr>
        <p:spPr>
          <a:xfrm>
            <a:off x="203199" y="1083734"/>
            <a:ext cx="11624734" cy="2607734"/>
          </a:xfrm>
          <a:prstGeom prst="rect">
            <a:avLst/>
          </a:prstGeom>
          <a:noFill/>
          <a:ln>
            <a:noFill/>
          </a:ln>
        </p:spPr>
        <p:txBody>
          <a:bodyPr spcFirstLastPara="1" wrap="square" lIns="0" tIns="0" rIns="0" bIns="0" anchor="ctr" anchorCtr="0">
            <a:noAutofit/>
          </a:bodyPr>
          <a:lstStyle/>
          <a:p>
            <a:pPr marL="0" indent="0" algn="just">
              <a:lnSpc>
                <a:spcPct val="150000"/>
              </a:lnSpc>
              <a:spcBef>
                <a:spcPts val="0"/>
              </a:spcBef>
              <a:buSzPts val="2000"/>
              <a:buNone/>
            </a:pPr>
            <a:r>
              <a:rPr lang="en-US" sz="1600" dirty="0"/>
              <a:t>The Employee Management System will significantly enhance operational efficiency by automating employee record management, payroll processing, and leave tracking. It will improve employee satisfaction by providing easy access to personal information, salary details, and leave status through a user-friendly interface. The system will reduce administrative workload for HR teams by streamlining key processes and ensuring accuracy in data handling. Leveraging modern technologies will ensure scalability and adaptability, allowing the system to grow with the organization’s needs while maintaining high performance and reliability.</a:t>
            </a:r>
            <a:endParaRPr sz="16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9"/>
          <p:cNvSpPr txBox="1"/>
          <p:nvPr/>
        </p:nvSpPr>
        <p:spPr>
          <a:xfrm>
            <a:off x="2821582" y="2821582"/>
            <a:ext cx="6705599" cy="1410788"/>
          </a:xfrm>
          <a:prstGeom prst="rect">
            <a:avLst/>
          </a:prstGeom>
          <a:noFill/>
          <a:ln>
            <a:noFill/>
          </a:ln>
        </p:spPr>
        <p:txBody>
          <a:bodyPr spcFirstLastPara="1" wrap="square" lIns="91425" tIns="45700" rIns="91425" bIns="45700" anchor="ctr" anchorCtr="0">
            <a:noAutofit/>
          </a:bodyPr>
          <a:lstStyle/>
          <a:p>
            <a:pPr algn="ctr"/>
            <a:r>
              <a:rPr lang="en-US" sz="5400">
                <a:solidFill>
                  <a:schemeClr val="dk1"/>
                </a:solidFill>
                <a:latin typeface="Times New Roman"/>
                <a:ea typeface="Times New Roman"/>
                <a:cs typeface="Times New Roman"/>
                <a:sym typeface="Times New Roman"/>
              </a:rPr>
              <a:t>Thank You</a:t>
            </a:r>
            <a:endParaRPr sz="5400">
              <a:latin typeface="Times New Roman"/>
              <a:ea typeface="Times New Roman"/>
              <a:cs typeface="Times New Roman"/>
              <a:sym typeface="Times New Roman"/>
            </a:endParaRPr>
          </a:p>
        </p:txBody>
      </p:sp>
      <p:sp>
        <p:nvSpPr>
          <p:cNvPr id="198" name="Google Shape;198;p9"/>
          <p:cNvSpPr txBox="1"/>
          <p:nvPr/>
        </p:nvSpPr>
        <p:spPr>
          <a:xfrm>
            <a:off x="8077080" y="6356520"/>
            <a:ext cx="2133360" cy="364680"/>
          </a:xfrm>
          <a:prstGeom prst="rect">
            <a:avLst/>
          </a:prstGeom>
          <a:noFill/>
          <a:ln>
            <a:noFill/>
          </a:ln>
        </p:spPr>
        <p:txBody>
          <a:bodyPr spcFirstLastPara="1" wrap="square" lIns="91425" tIns="45700" rIns="91425" bIns="45700" anchor="ctr" anchorCtr="0">
            <a:noAutofit/>
          </a:bodyPr>
          <a:lstStyle/>
          <a:p>
            <a:pPr algn="r"/>
            <a:fld id="{00000000-1234-1234-1234-123412341234}" type="slidenum">
              <a:rPr lang="en-US" sz="1200" b="1">
                <a:latin typeface="Calibri"/>
                <a:ea typeface="Calibri"/>
                <a:cs typeface="Calibri"/>
                <a:sym typeface="Calibri"/>
              </a:rPr>
              <a:pPr algn="r"/>
              <a:t>15</a:t>
            </a:fld>
            <a:endParaRPr sz="1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877</TotalTime>
  <Words>808</Words>
  <Application>Microsoft Office PowerPoint</Application>
  <PresentationFormat>Widescreen</PresentationFormat>
  <Paragraphs>71</Paragraphs>
  <Slides>15</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Times New Roman</vt:lpstr>
      <vt:lpstr>Calibri</vt:lpstr>
      <vt:lpstr>Arial</vt:lpstr>
      <vt:lpstr>Office Theme</vt:lpstr>
      <vt:lpstr>PowerPoint Presentation</vt:lpstr>
      <vt:lpstr>PowerPoint Presentation</vt:lpstr>
      <vt:lpstr>  Problem Statement</vt:lpstr>
      <vt:lpstr>    Key Functionalities  </vt:lpstr>
      <vt:lpstr>      System Architecture  </vt:lpstr>
      <vt:lpstr>  Employee Login Process</vt:lpstr>
      <vt:lpstr>Admin Login Process</vt:lpstr>
      <vt:lpstr>Simple Payroll Process</vt:lpstr>
      <vt:lpstr>Attendance Tracking</vt:lpstr>
      <vt:lpstr>   Project Screenshots:    1.Login as SuperAdmin/SubAdmin</vt:lpstr>
      <vt:lpstr>   Project Screenshots:    2. Admin Dashboard</vt:lpstr>
      <vt:lpstr>   Project Screenshots:    2. Employee Dashboard</vt:lpstr>
      <vt:lpstr> Future Scope  </vt:lpstr>
      <vt:lpstr>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Divanshu garg</cp:lastModifiedBy>
  <cp:revision>19</cp:revision>
  <dcterms:created xsi:type="dcterms:W3CDTF">2010-04-09T07:36:15Z</dcterms:created>
  <dcterms:modified xsi:type="dcterms:W3CDTF">2026-05-13T20:27:46Z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